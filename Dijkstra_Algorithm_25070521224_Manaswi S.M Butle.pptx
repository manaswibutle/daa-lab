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E54DB54-47A9-9765-D90F-E727916B55FD}">
          <p14:sldIdLst>
            <p14:sldId id="256"/>
            <p14:sldId id="257"/>
          </p14:sldIdLst>
        </p14:section>
        <p14:section name="Theory" id="{8C7D410D-6D92-B6D0-52F6-0E022C36AC20}">
          <p14:sldIdLst>
            <p14:sldId id="258"/>
            <p14:sldId id="259"/>
          </p14:sldIdLst>
        </p14:section>
        <p14:section name="Practice" id="{F7BD7F69-C7C0-5931-0AD0-B18421B60F94}">
          <p14:sldIdLst>
            <p14:sldId id="260"/>
            <p14:sldId id="261"/>
          </p14:sldIdLst>
        </p14:section>
        <p14:section name="Analysis" id="{06B6D49D-B594-9741-BBFB-8CA0F8F83A26}">
          <p14:sldIdLst>
            <p14:sldId id="262"/>
          </p14:sldIdLst>
        </p14:section>
        <p14:section name="Close" id="{F1575473-B5A1-BED6-E202-5D661636916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127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828800"/>
            <a:ext cx="63093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5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74904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Dijkstra's Algorithm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8288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 dirty="0">
                <a:solidFill>
                  <a:schemeClr val="bg1"/>
                </a:solidFill>
              </a:rPr>
              <a:t>Dijkstra's Algorithm</a:t>
            </a:r>
            <a:endParaRPr lang="en-US" sz="5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749039"/>
            <a:ext cx="6035040" cy="1662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Finding the shortest path in a weighted graph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6000" b="1" dirty="0"/>
              <a:t>Made by Claud AI</a:t>
            </a:r>
          </a:p>
          <a:p>
            <a:r>
              <a:rPr lang="en-US" sz="1000" b="1" dirty="0">
                <a:solidFill>
                  <a:schemeClr val="bg2">
                    <a:lumMod val="90000"/>
                  </a:schemeClr>
                </a:solidFill>
              </a:rPr>
              <a:t>                                                                                                                                                                             -Manaswi S.M </a:t>
            </a:r>
            <a:r>
              <a:rPr lang="en-US" sz="1000" b="1" dirty="0" err="1">
                <a:solidFill>
                  <a:schemeClr val="bg2">
                    <a:lumMod val="90000"/>
                  </a:schemeClr>
                </a:solidFill>
              </a:rPr>
              <a:t>Butle</a:t>
            </a:r>
            <a:endParaRPr lang="en-US" sz="1000" b="1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sz="1000" b="1" dirty="0">
                <a:solidFill>
                  <a:schemeClr val="bg2">
                    <a:lumMod val="90000"/>
                  </a:schemeClr>
                </a:solidFill>
              </a:rPr>
              <a:t>                                                                                                                                                                             PRN: 25070521224</a:t>
            </a:r>
          </a:p>
          <a:p>
            <a:r>
              <a:rPr lang="en-US" sz="1000" b="1" dirty="0">
                <a:solidFill>
                  <a:schemeClr val="bg2">
                    <a:lumMod val="90000"/>
                  </a:schemeClr>
                </a:solidFill>
              </a:rPr>
              <a:t>                                                                                                                                                                             SEC:D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 flipV="1">
            <a:off x="7589520" y="2240280"/>
            <a:ext cx="1783080" cy="11887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429000"/>
            <a:ext cx="1783080" cy="118872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2240280"/>
            <a:ext cx="0" cy="237744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0" y="2240280"/>
            <a:ext cx="2020824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372600" y="2240280"/>
            <a:ext cx="2020824" cy="23774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4617720"/>
            <a:ext cx="2020824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93424" y="2240280"/>
            <a:ext cx="0" cy="237744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9036" y="269748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89036" y="388620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80576" y="329184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90988" y="210312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90988" y="329184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90988" y="448056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1400" y="329184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1546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196596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434340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19104" y="196596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119104" y="434340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 to Dijkstra's Algorithm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Dijkstra's algorithm finds the shortest path from one source vertex to every other vertex in a weighted graph, as long as no edge weight is negative.</a:t>
            </a:r>
            <a:endParaRPr lang="en-US" sz="1800" dirty="0"/>
          </a:p>
        </p:txBody>
      </p:sp>
      <p:sp>
        <p:nvSpPr>
          <p:cNvPr id="4" name="Fact card 1"/>
          <p:cNvSpPr/>
          <p:nvPr/>
        </p:nvSpPr>
        <p:spPr>
          <a:xfrm>
            <a:off x="548640" y="347472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1956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297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Conceived by Edsger W. Dijkstra</a:t>
            </a:r>
            <a:endParaRPr lang="en-US" sz="1400" dirty="0"/>
          </a:p>
        </p:txBody>
      </p:sp>
      <p:sp>
        <p:nvSpPr>
          <p:cNvPr id="7" name="Fact card 2"/>
          <p:cNvSpPr/>
          <p:nvPr/>
        </p:nvSpPr>
        <p:spPr>
          <a:xfrm>
            <a:off x="3337560" y="347472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1959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4297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First published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57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Category: greedy, single-source shortest path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Where it is used</a:t>
            </a:r>
            <a:endParaRPr lang="en-US" sz="2200" dirty="0"/>
          </a:p>
        </p:txBody>
      </p:sp>
      <p:sp>
        <p:nvSpPr>
          <p:cNvPr id="12" name="Use case 1"/>
          <p:cNvSpPr/>
          <p:nvPr/>
        </p:nvSpPr>
        <p:spPr>
          <a:xfrm>
            <a:off x="6400800" y="210312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22860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GPS &amp; maps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Fastest route between two places</a:t>
            </a:r>
            <a:endParaRPr lang="en-US" sz="1400" dirty="0"/>
          </a:p>
        </p:txBody>
      </p:sp>
      <p:sp>
        <p:nvSpPr>
          <p:cNvPr id="16" name="Use case 2"/>
          <p:cNvSpPr/>
          <p:nvPr/>
        </p:nvSpPr>
        <p:spPr>
          <a:xfrm>
            <a:off x="9098280" y="210312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81160" y="22860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Network routing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OSPF and IS-IS choose least-cost paths</a:t>
            </a:r>
            <a:endParaRPr lang="en-US" sz="1400" dirty="0"/>
          </a:p>
        </p:txBody>
      </p:sp>
      <p:sp>
        <p:nvSpPr>
          <p:cNvPr id="20" name="Use case 3"/>
          <p:cNvSpPr/>
          <p:nvPr/>
        </p:nvSpPr>
        <p:spPr>
          <a:xfrm>
            <a:off x="6400800" y="402336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06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709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Game AI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074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Pathfinding for characters on a map</a:t>
            </a:r>
            <a:endParaRPr lang="en-US" sz="1400" dirty="0"/>
          </a:p>
        </p:txBody>
      </p:sp>
      <p:sp>
        <p:nvSpPr>
          <p:cNvPr id="24" name="Use case 4"/>
          <p:cNvSpPr/>
          <p:nvPr/>
        </p:nvSpPr>
        <p:spPr>
          <a:xfrm>
            <a:off x="9098280" y="402336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81160" y="4206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4709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Logistics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5074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Delivery and flight route planning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Core Concepts Behind the Algorithm</a:t>
            </a:r>
            <a:endParaRPr lang="en-US" sz="3400" dirty="0"/>
          </a:p>
        </p:txBody>
      </p:sp>
      <p:sp>
        <p:nvSpPr>
          <p:cNvPr id="3" name="Concept 1"/>
          <p:cNvSpPr/>
          <p:nvPr/>
        </p:nvSpPr>
        <p:spPr>
          <a:xfrm>
            <a:off x="54864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Greedy choice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Always settle the unvisited vertex with the smallest known distance. Its distance is then final.</a:t>
            </a:r>
            <a:endParaRPr lang="en-US" sz="1400" dirty="0"/>
          </a:p>
        </p:txBody>
      </p:sp>
      <p:sp>
        <p:nvSpPr>
          <p:cNvPr id="7" name="Concept 2"/>
          <p:cNvSpPr/>
          <p:nvPr/>
        </p:nvSpPr>
        <p:spPr>
          <a:xfrm>
            <a:off x="3364992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Distance table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017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dist[v] stores the best known cost from the source. It starts at 0 for the source and ∞ for all others.</a:t>
            </a:r>
            <a:endParaRPr lang="en-US" sz="1400" dirty="0"/>
          </a:p>
        </p:txBody>
      </p:sp>
      <p:sp>
        <p:nvSpPr>
          <p:cNvPr id="11" name="Concept 3"/>
          <p:cNvSpPr/>
          <p:nvPr/>
        </p:nvSpPr>
        <p:spPr>
          <a:xfrm>
            <a:off x="6181344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9944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Priority queue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3017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min-heap returns the closest vertex quickly, which keeps the search efficient.</a:t>
            </a:r>
            <a:endParaRPr lang="en-US" sz="1400" dirty="0"/>
          </a:p>
        </p:txBody>
      </p:sp>
      <p:sp>
        <p:nvSpPr>
          <p:cNvPr id="15" name="Concept 4"/>
          <p:cNvSpPr/>
          <p:nvPr/>
        </p:nvSpPr>
        <p:spPr>
          <a:xfrm>
            <a:off x="8997696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26296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Relaxation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017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 whether going through u gives v a cheaper route. If so, update dist[v] and parent[v].</a:t>
            </a:r>
            <a:endParaRPr lang="en-US" sz="1400" dirty="0"/>
          </a:p>
        </p:txBody>
      </p:sp>
      <p:sp>
        <p:nvSpPr>
          <p:cNvPr id="19" name="Relaxation banner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Relaxation rule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dist[u] + w(u, v) &lt; dist[v]:  dist[v] = dist[u] + w(u, v)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the Algorithm Works, Step by Step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Initialise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 dist[source] = 0 and every other distance to ∞. Parent pointers start empty.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429768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Enqueue source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Put (0, source) into a min-priority queue ordered by distance.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804672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Extract minimum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Pop the vertex u with the smallest distance. Skip it if the entry is stale.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548640" y="384048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Relax neighbours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 each edge (u, v, w), if dist[u] + w &lt; dist[v], update dist[v] and push v.</a:t>
            </a:r>
            <a:endParaRPr lang="en-US" sz="1400" dirty="0"/>
          </a:p>
        </p:txBody>
      </p:sp>
      <p:sp>
        <p:nvSpPr>
          <p:cNvPr id="19" name="Step 5"/>
          <p:cNvSpPr/>
          <p:nvPr/>
        </p:nvSpPr>
        <p:spPr>
          <a:xfrm>
            <a:off x="4297680" y="384048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Repeat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Continue until the queue is empty, or until the target vertex is popped.</a:t>
            </a:r>
            <a:endParaRPr lang="en-US" sz="1400" dirty="0"/>
          </a:p>
        </p:txBody>
      </p:sp>
      <p:sp>
        <p:nvSpPr>
          <p:cNvPr id="23" name="Step 6"/>
          <p:cNvSpPr/>
          <p:nvPr/>
        </p:nvSpPr>
        <p:spPr>
          <a:xfrm>
            <a:off x="8046720" y="384048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21040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Build the path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Follow parent pointers from the target back to the source to recover the route.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Worked Example: Source Vertex 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 flipV="1">
            <a:off x="822960" y="1828800"/>
            <a:ext cx="1920240" cy="12801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108960"/>
            <a:ext cx="1920240" cy="128016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828800"/>
            <a:ext cx="0" cy="256032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828800"/>
            <a:ext cx="2176272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743200" y="1828800"/>
            <a:ext cx="2176272" cy="256032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4389120"/>
            <a:ext cx="217627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19472" y="1828800"/>
            <a:ext cx="0" cy="256032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91056" y="2331720"/>
            <a:ext cx="38404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591056" y="3611880"/>
            <a:ext cx="38404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51176" y="2971800"/>
            <a:ext cx="38404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1691640"/>
            <a:ext cx="38404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2971800"/>
            <a:ext cx="38404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4251960"/>
            <a:ext cx="38404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2971800"/>
            <a:ext cx="384048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15544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411480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645152" y="15544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645152" y="411480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554480"/>
          <a:ext cx="557784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Settled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Init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6035040" y="4663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Shaded cells = distance improved in that step</a:t>
            </a:r>
            <a:endParaRPr lang="en-US" sz="1400" dirty="0"/>
          </a:p>
        </p:txBody>
      </p:sp>
      <p:sp>
        <p:nvSpPr>
          <p:cNvPr id="24" name="Result banner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Result: A → C → B → D → E with total cost 10. Going A → B directly costs 4, but via C it costs only 3.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in Python</a:t>
            </a:r>
            <a:endParaRPr lang="en-US" sz="3400" dirty="0"/>
          </a:p>
        </p:txBody>
      </p:sp>
      <p:sp>
        <p:nvSpPr>
          <p:cNvPr id="3" name="Code panel"/>
          <p:cNvSpPr/>
          <p:nvPr/>
        </p:nvSpPr>
        <p:spPr>
          <a:xfrm>
            <a:off x="548640" y="1554480"/>
            <a:ext cx="676656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6309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heapq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dijkstra(graph, src):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{v: float("inf") for v in graph}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dist[src] =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pq = [(0, src)]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pq: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d, u = heapq.heappop(pq)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 &gt; dist[u]: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v, w in graph[u]: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 + w &lt; dist[v]: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dist[v] = d + 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heapq.heappush(pq, (dist[v], v))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</a:t>
            </a:r>
            <a:endParaRPr lang="en-US" sz="1400" dirty="0"/>
          </a:p>
        </p:txBody>
      </p:sp>
      <p:sp>
        <p:nvSpPr>
          <p:cNvPr id="5" name="Notes panel"/>
          <p:cNvSpPr/>
          <p:nvPr/>
        </p:nvSpPr>
        <p:spPr>
          <a:xfrm>
            <a:off x="7680960" y="1554480"/>
            <a:ext cx="3931920" cy="448056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How to read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237744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heap always returns the closest unsettled vertex.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 &gt; dist[u] skips stale heap entries instead of decreasing keys.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edge is relaxed once, giving O((V + E) log V).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a parent map to rebuild the actual path.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Complexity, Limits and Alternatives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Time complexity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Priority queue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Simple array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O(V²)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Binary heap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O((V + E) log V)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Fibonacci heap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O(E + V log V)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pace card"/>
          <p:cNvSpPr/>
          <p:nvPr/>
        </p:nvSpPr>
        <p:spPr>
          <a:xfrm>
            <a:off x="548640" y="4663440"/>
            <a:ext cx="5852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6634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O(V)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46634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extra space for dist[], parent[] and the priority queue</a:t>
            </a:r>
            <a:endParaRPr lang="en-US" sz="1600" dirty="0"/>
          </a:p>
        </p:txBody>
      </p:sp>
      <p:sp>
        <p:nvSpPr>
          <p:cNvPr id="4" name="Text 5"/>
          <p:cNvSpPr txBox="1"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Limitations &amp; alternatives</a:t>
            </a:r>
            <a:endParaRPr lang="en-US" sz="2200" dirty="0"/>
          </a:p>
        </p:txBody>
      </p:sp>
      <p:sp>
        <p:nvSpPr>
          <p:cNvPr id="9" name="Alternative 1"/>
          <p:cNvSpPr/>
          <p:nvPr/>
        </p:nvSpPr>
        <p:spPr>
          <a:xfrm>
            <a:off x="6858000" y="2103120"/>
            <a:ext cx="4754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Marker 1"/>
          <p:cNvSpPr/>
          <p:nvPr/>
        </p:nvSpPr>
        <p:spPr>
          <a:xfrm>
            <a:off x="7086600" y="251460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Negative edge weights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Settled distances can be wrong. Use Bellman-Ford instead.</a:t>
            </a:r>
            <a:endParaRPr lang="en-US" sz="1400" dirty="0"/>
          </a:p>
        </p:txBody>
      </p:sp>
      <p:sp>
        <p:nvSpPr>
          <p:cNvPr id="13" name="Alternative 2"/>
          <p:cNvSpPr/>
          <p:nvPr/>
        </p:nvSpPr>
        <p:spPr>
          <a:xfrm>
            <a:off x="6858000" y="3520440"/>
            <a:ext cx="4754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4" name="Marker 2"/>
          <p:cNvSpPr/>
          <p:nvPr/>
        </p:nvSpPr>
        <p:spPr>
          <a:xfrm>
            <a:off x="7086600" y="39319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Unweighted graphs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Plain BFS is simpler and runs in O(V + E).</a:t>
            </a:r>
            <a:endParaRPr lang="en-US" sz="1400" dirty="0"/>
          </a:p>
        </p:txBody>
      </p:sp>
      <p:sp>
        <p:nvSpPr>
          <p:cNvPr id="17" name="Alternative 3"/>
          <p:cNvSpPr/>
          <p:nvPr/>
        </p:nvSpPr>
        <p:spPr>
          <a:xfrm>
            <a:off x="6858000" y="4937760"/>
            <a:ext cx="4754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8" name="Marker 3"/>
          <p:cNvSpPr/>
          <p:nvPr/>
        </p:nvSpPr>
        <p:spPr>
          <a:xfrm>
            <a:off x="7086600" y="53492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2668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One target with a heuristic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A* adds guidance and usually explores far fewer vertices.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8288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 dirty="0">
                <a:solidFill>
                  <a:schemeClr val="bg1"/>
                </a:solidFill>
              </a:rPr>
              <a:t>Thank You</a:t>
            </a:r>
            <a:endParaRPr lang="en-US" sz="5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749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Questions and discussion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6000" b="1" dirty="0"/>
              <a:t>Made by Claud AI</a:t>
            </a:r>
          </a:p>
        </p:txBody>
      </p:sp>
      <p:sp>
        <p:nvSpPr>
          <p:cNvPr id="4" name="Shape 2"/>
          <p:cNvSpPr/>
          <p:nvPr/>
        </p:nvSpPr>
        <p:spPr>
          <a:xfrm flipV="1">
            <a:off x="7589520" y="2240280"/>
            <a:ext cx="1783080" cy="11887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429000"/>
            <a:ext cx="1783080" cy="118872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2240280"/>
            <a:ext cx="0" cy="237744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0" y="2240280"/>
            <a:ext cx="2020824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372600" y="2240280"/>
            <a:ext cx="2020824" cy="23774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4617720"/>
            <a:ext cx="2020824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93424" y="2240280"/>
            <a:ext cx="0" cy="237744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9036" y="269748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89036" y="388620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80576" y="329184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90988" y="210312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90988" y="329184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90988" y="448056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201400" y="3291840"/>
            <a:ext cx="384048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1546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196596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434340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19104" y="196596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119104" y="434340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uteMap">
  <a:themeElements>
    <a:clrScheme name="RouteMap">
      <a:dk1>
        <a:srgbClr val="1B2A30"/>
      </a:dk1>
      <a:lt1>
        <a:srgbClr val="FFFFFF"/>
      </a:lt1>
      <a:dk2>
        <a:srgbClr val="0F2F36"/>
      </a:dk2>
      <a:lt2>
        <a:srgbClr val="EAF3F3"/>
      </a:lt2>
      <a:accent1>
        <a:srgbClr val="0E7C86"/>
      </a:accent1>
      <a:accent2>
        <a:srgbClr val="F2A33A"/>
      </a:accent2>
      <a:accent3>
        <a:srgbClr val="3D5A62"/>
      </a:accent3>
      <a:accent4>
        <a:srgbClr val="8CC3C9"/>
      </a:accent4>
      <a:accent5>
        <a:srgbClr val="C8453B"/>
      </a:accent5>
      <a:accent6>
        <a:srgbClr val="5B8C5A"/>
      </a:accent6>
      <a:hlink>
        <a:srgbClr val="0E7C86"/>
      </a:hlink>
      <a:folHlink>
        <a:srgbClr val="3D5A62"/>
      </a:folHlink>
    </a:clrScheme>
    <a:fontScheme name="RouteM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805</Words>
  <Application>Microsoft Office PowerPoint</Application>
  <PresentationFormat>Widescreen</PresentationFormat>
  <Paragraphs>208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RouteMap</vt:lpstr>
      <vt:lpstr>Dijkstra's Algorithm</vt:lpstr>
      <vt:lpstr>Introduction to Dijkstra's Algorithm</vt:lpstr>
      <vt:lpstr>Core Concepts Behind the Algorithm</vt:lpstr>
      <vt:lpstr>How the Algorithm Works, Step by Step</vt:lpstr>
      <vt:lpstr>Worked Example: Source Vertex A</vt:lpstr>
      <vt:lpstr>Implementation in Python</vt:lpstr>
      <vt:lpstr>Complexity, Limits and Alternatives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>PptxGenJS Presentation</dc:subject>
  <dc:creator>PptxGenJS</dc:creator>
  <cp:lastModifiedBy>sujit.butle@gmail.com</cp:lastModifiedBy>
  <cp:revision>2</cp:revision>
  <dcterms:created xsi:type="dcterms:W3CDTF">2026-10-19T10:16:20Z</dcterms:created>
  <dcterms:modified xsi:type="dcterms:W3CDTF">2026-10-19T15:31:25Z</dcterms:modified>
</cp:coreProperties>
</file>